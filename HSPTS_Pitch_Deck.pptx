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943600" cy="59436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182880"/>
            <a:ext cx="3657600" cy="3657600"/>
          </a:xfrm>
          <a:prstGeom prst="ellipse">
            <a:avLst/>
          </a:prstGeom>
          <a:solidFill>
            <a:srgbClr val="FFFFFF">
              <a:alpha val="9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757">
              <a:alpha val="60000"/>
            </a:srgbClr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457200"/>
            <a:ext cx="228600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HACKATHON BUILD  ·  2025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Performance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System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3127248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 that detects at-risk students early, surfaces insights in real time, and accelerates mentor intervention — all in one dashboard.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31596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3159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+ React 19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52928" y="431596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43159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+ PostgreSQL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57216" y="4315968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57216" y="4315968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Ready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0" y="164592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800" b="1" dirty="0">
                <a:solidFill>
                  <a:srgbClr val="FFFFFF">
                    <a:alpha val="9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HSPTS</a:t>
            </a:r>
            <a:endParaRPr lang="en-US" sz="10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·  THE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teams are flying blind.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 is scattered, risks discovered late, mentors lack tools to act fast.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33472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263347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755648"/>
            <a:ext cx="438912" cy="438912"/>
          </a:xfrm>
          <a:prstGeom prst="ellipse">
            <a:avLst/>
          </a:prstGeom>
          <a:solidFill>
            <a:srgbClr val="FDEDEC"/>
          </a:solidFill>
          <a:ln w="6350">
            <a:solidFill>
              <a:srgbClr val="F5C6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Fragmented Data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226771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 scores, exam results, task completion, and attendance all live in separate systems — no unified view.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2359152" cy="566928"/>
          </a:xfrm>
          <a:prstGeom prst="rect">
            <a:avLst/>
          </a:prstGeom>
          <a:solidFill>
            <a:srgbClr val="FDEDEC"/>
          </a:solidFill>
          <a:ln w="6350">
            <a:solidFill>
              <a:srgbClr val="F5C6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114800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tools just to see one student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73552" y="1600200"/>
            <a:ext cx="2633472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600200"/>
            <a:ext cx="263347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755648"/>
            <a:ext cx="438912" cy="438912"/>
          </a:xfrm>
          <a:prstGeom prst="ellipse">
            <a:avLst/>
          </a:prstGeom>
          <a:solidFill>
            <a:srgbClr val="FDEDEC"/>
          </a:solidFill>
          <a:ln w="6350">
            <a:solidFill>
              <a:srgbClr val="F5C6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56432" y="228600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 Risk Detection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456432" y="2706624"/>
            <a:ext cx="226771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student's decline is visible, the critical intervention window has already closed.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4114800"/>
            <a:ext cx="2359152" cy="566928"/>
          </a:xfrm>
          <a:prstGeom prst="rect">
            <a:avLst/>
          </a:prstGeom>
          <a:solidFill>
            <a:srgbClr val="FDEDEC"/>
          </a:solidFill>
          <a:ln w="6350">
            <a:solidFill>
              <a:srgbClr val="F5C6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4114800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 lag after decline starts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9904" y="1600200"/>
            <a:ext cx="2633472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9904" y="1600200"/>
            <a:ext cx="263347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1072" y="1755648"/>
            <a:ext cx="438912" cy="438912"/>
          </a:xfrm>
          <a:prstGeom prst="ellipse">
            <a:avLst/>
          </a:prstGeom>
          <a:solidFill>
            <a:srgbClr val="FDEDEC"/>
          </a:solidFill>
          <a:ln w="6350">
            <a:solidFill>
              <a:srgbClr val="F5C6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1755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72784" y="2286000"/>
            <a:ext cx="2267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Reporting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272784" y="2706624"/>
            <a:ext cx="226771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spend hours every week manually compiling reports instead of actually supporting students.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27064" y="4114800"/>
            <a:ext cx="2359152" cy="566928"/>
          </a:xfrm>
          <a:prstGeom prst="rect">
            <a:avLst/>
          </a:prstGeom>
          <a:solidFill>
            <a:srgbClr val="FDEDEC"/>
          </a:solidFill>
          <a:ln w="6350">
            <a:solidFill>
              <a:srgbClr val="F5C6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4114800"/>
            <a:ext cx="22311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hrs/week lost to report prep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·  OUR SOLUTION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visibility.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HSPTS unifies all student signals into a single, actionable analytics layer.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931920" cy="109728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880360"/>
            <a:ext cx="64008" cy="1097280"/>
          </a:xfrm>
          <a:prstGeom prst="rect">
            <a:avLst/>
          </a:prstGeom>
          <a:solidFill>
            <a:srgbClr val="FF5757">
              <a:alpha val="70000"/>
            </a:srgbClr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9260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"HSPTS turns slow reactions into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instant, data-driven decisions."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92040" y="320040"/>
            <a:ext cx="3840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594360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594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59552" y="4663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 &amp; Standardise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559552" y="832104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PLD, exam, task, and attendance data from all sources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508760"/>
            <a:ext cx="3840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783080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59552" y="165506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&amp; Model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559552" y="2020824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engine computes individual performance in real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92040" y="2697480"/>
            <a:ext cx="3840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2971800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971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59552" y="284378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Risk Early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59552" y="3209544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 flags at-risk students before trajectory turns critical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3886200"/>
            <a:ext cx="38404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4160520"/>
            <a:ext cx="402336" cy="40233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59552" y="40325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&amp; Report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559552" y="4398264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mentor alerts + export-ready PDF and Excel reports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·  PRODUCT OVERVIEW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views. One decision engine.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at-risk detection to mentor alerts — in three clicks.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64792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 Dashboard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risk distribution, score trends, and at-risk counts at a glance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60020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600200"/>
            <a:ext cx="64008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764792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Students View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search the roster by risk level, trend, or cohort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600200"/>
            <a:ext cx="64008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764792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Profile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17920" y="2148840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ring, radar chart, timeline, and full individual history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00400"/>
            <a:ext cx="64008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64992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Reports Hub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Weekly, monthly, and individual report presets — export PDF or Excel instantly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200400"/>
            <a:ext cx="260604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200400"/>
            <a:ext cx="64008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364992"/>
            <a:ext cx="2313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C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Alerts &amp; Notifications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429000" y="3749040"/>
            <a:ext cx="2313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Risk-trigger–based alerts delivered to mentors and administrators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3127248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80760" y="321868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080760" y="37216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tracked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08392" y="3127248"/>
            <a:ext cx="1508760" cy="1005840"/>
          </a:xfrm>
          <a:prstGeom prst="rect">
            <a:avLst/>
          </a:prstGeom>
          <a:solidFill>
            <a:srgbClr val="FDEDEC"/>
          </a:solidFill>
          <a:ln w="6350">
            <a:solidFill>
              <a:srgbClr val="F5C6C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08392" y="321868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7708392" y="372160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flagged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80760" y="4297680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80760" y="4389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78.4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080760" y="48920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cohort score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08392" y="4297680"/>
            <a:ext cx="1508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08392" y="43891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708392" y="489204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this week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·  INTELLIGENCE ENGINE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score. How we flag.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WEIGHTS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72768" y="1755648"/>
            <a:ext cx="2331720" cy="182880"/>
          </a:xfrm>
          <a:prstGeom prst="rect">
            <a:avLst/>
          </a:prstGeom>
          <a:solidFill>
            <a:srgbClr val="E0DEDA"/>
          </a:solidFill>
          <a:ln w="12700">
            <a:solidFill>
              <a:srgbClr val="E0DE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2768" y="1755648"/>
            <a:ext cx="699516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86784" y="1664208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72768" y="2468880"/>
            <a:ext cx="2331720" cy="182880"/>
          </a:xfrm>
          <a:prstGeom prst="rect">
            <a:avLst/>
          </a:prstGeom>
          <a:solidFill>
            <a:srgbClr val="E0DEDA"/>
          </a:solidFill>
          <a:ln w="12700">
            <a:solidFill>
              <a:srgbClr val="E0DE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72768" y="2468880"/>
            <a:ext cx="582930" cy="182880"/>
          </a:xfrm>
          <a:prstGeom prst="rect">
            <a:avLst/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86784" y="2377440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090672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572768" y="3182112"/>
            <a:ext cx="2331720" cy="182880"/>
          </a:xfrm>
          <a:prstGeom prst="rect">
            <a:avLst/>
          </a:prstGeom>
          <a:solidFill>
            <a:srgbClr val="E0DEDA"/>
          </a:solidFill>
          <a:ln w="12700">
            <a:solidFill>
              <a:srgbClr val="E0DE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72768" y="3182112"/>
            <a:ext cx="582930" cy="182880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784" y="3090672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803904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572768" y="3895344"/>
            <a:ext cx="2331720" cy="182880"/>
          </a:xfrm>
          <a:prstGeom prst="rect">
            <a:avLst/>
          </a:prstGeom>
          <a:solidFill>
            <a:srgbClr val="E0DEDA"/>
          </a:solidFill>
          <a:ln w="12700">
            <a:solidFill>
              <a:srgbClr val="E0DE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72768" y="3895344"/>
            <a:ext cx="466344" cy="182880"/>
          </a:xfrm>
          <a:prstGeom prst="rect">
            <a:avLst/>
          </a:prstGeom>
          <a:solidFill>
            <a:srgbClr val="C0762B"/>
          </a:solidFill>
          <a:ln w="12700">
            <a:solidFill>
              <a:srgbClr val="C076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86784" y="3803904"/>
            <a:ext cx="640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4590288"/>
            <a:ext cx="841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30%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627632" y="4617720"/>
            <a:ext cx="164592" cy="164592"/>
          </a:xfrm>
          <a:prstGeom prst="rect">
            <a:avLst/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47088" y="4590288"/>
            <a:ext cx="841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PLD 25%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06624" y="4617720"/>
            <a:ext cx="164592" cy="164592"/>
          </a:xfrm>
          <a:prstGeom prst="rect">
            <a:avLst/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4590288"/>
            <a:ext cx="841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25%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85616" y="4617720"/>
            <a:ext cx="164592" cy="164592"/>
          </a:xfrm>
          <a:prstGeom prst="rect">
            <a:avLst/>
          </a:prstGeom>
          <a:solidFill>
            <a:srgbClr val="C0762B"/>
          </a:solidFill>
          <a:ln w="12700">
            <a:solidFill>
              <a:srgbClr val="C076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05072" y="4590288"/>
            <a:ext cx="841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20%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234440"/>
            <a:ext cx="0" cy="3657600"/>
          </a:xfrm>
          <a:prstGeom prst="line">
            <a:avLst/>
          </a:prstGeom>
          <a:noFill/>
          <a:ln w="9525">
            <a:solidFill>
              <a:srgbClr val="D8D4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1298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TIERS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56048" y="1664208"/>
            <a:ext cx="3749040" cy="621792"/>
          </a:xfrm>
          <a:prstGeom prst="rect">
            <a:avLst/>
          </a:prstGeom>
          <a:solidFill>
            <a:srgbClr val="EBF7F0"/>
          </a:solidFill>
          <a:ln w="3810">
            <a:solidFill>
              <a:srgbClr val="1A8A4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6048" y="1664208"/>
            <a:ext cx="64008" cy="621792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17830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8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 – 100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956048" y="2414016"/>
            <a:ext cx="3749040" cy="621792"/>
          </a:xfrm>
          <a:prstGeom prst="rect">
            <a:avLst/>
          </a:prstGeom>
          <a:solidFill>
            <a:srgbClr val="EBF2FC"/>
          </a:solidFill>
          <a:ln w="3810">
            <a:solidFill>
              <a:srgbClr val="1A6EA8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56048" y="2414016"/>
            <a:ext cx="64008" cy="621792"/>
          </a:xfrm>
          <a:prstGeom prst="rect">
            <a:avLst/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25328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6E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 – 84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63640" y="25328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956048" y="3163824"/>
            <a:ext cx="3749040" cy="621792"/>
          </a:xfrm>
          <a:prstGeom prst="rect">
            <a:avLst/>
          </a:prstGeom>
          <a:solidFill>
            <a:srgbClr val="FEF5E8"/>
          </a:solidFill>
          <a:ln w="3810">
            <a:solidFill>
              <a:srgbClr val="C0762B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56048" y="3163824"/>
            <a:ext cx="64008" cy="621792"/>
          </a:xfrm>
          <a:prstGeom prst="rect">
            <a:avLst/>
          </a:prstGeom>
          <a:solidFill>
            <a:srgbClr val="C0762B"/>
          </a:solidFill>
          <a:ln w="12700">
            <a:solidFill>
              <a:srgbClr val="C076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328269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6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 – 69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63640" y="328269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956048" y="3913632"/>
            <a:ext cx="3749040" cy="621792"/>
          </a:xfrm>
          <a:prstGeom prst="rect">
            <a:avLst/>
          </a:prstGeom>
          <a:solidFill>
            <a:srgbClr val="FDEDEC"/>
          </a:solidFill>
          <a:ln w="3810">
            <a:solidFill>
              <a:srgbClr val="C0392B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56048" y="3913632"/>
            <a:ext cx="64008" cy="6217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02352" y="403250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– 49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263640" y="403250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Risk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956048" y="4681728"/>
            <a:ext cx="3749040" cy="347472"/>
          </a:xfrm>
          <a:prstGeom prst="rect">
            <a:avLst/>
          </a:prstGeom>
          <a:solidFill>
            <a:srgbClr val="FDEDEC"/>
          </a:solidFill>
          <a:ln w="6350">
            <a:solidFill>
              <a:srgbClr val="F5C6C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47488" y="4681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engine: ▲ Up (improving)   — Stable   ▼ Down (declining)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·  TECHNOLOGY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 from day one.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— not just to demo.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257860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63040"/>
            <a:ext cx="25786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82112" y="1463040"/>
            <a:ext cx="257860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1463040"/>
            <a:ext cx="2578608" cy="43891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146304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61888" y="1463040"/>
            <a:ext cx="2578608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61888" y="1463040"/>
            <a:ext cx="2578608" cy="438912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9048" y="1463040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121408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" y="202996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3816" y="228600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715768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262432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" y="28803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mode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310128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21868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" y="347472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904488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" y="381304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3816" y="406908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4498848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" y="440740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 UI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3816" y="466344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primitives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64992" y="2121408"/>
            <a:ext cx="118872" cy="118872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202996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584448" y="228600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64992" y="2715768"/>
            <a:ext cx="118872" cy="118872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262432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84448" y="28803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ORM layer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64992" y="3310128"/>
            <a:ext cx="118872" cy="118872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84448" y="321868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584448" y="347472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database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364992" y="3904488"/>
            <a:ext cx="118872" cy="118872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84448" y="381304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584448" y="406908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&amp; job processing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64992" y="4498848"/>
            <a:ext cx="118872" cy="118872"/>
          </a:xfrm>
          <a:prstGeom prst="ellipse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84448" y="4407408"/>
            <a:ext cx="20299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584448" y="466344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pub/sub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44768" y="1993392"/>
            <a:ext cx="2258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SCHEMA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99048" y="2286000"/>
            <a:ext cx="2304288" cy="274320"/>
          </a:xfrm>
          <a:prstGeom prst="rect">
            <a:avLst/>
          </a:prstGeom>
          <a:solidFill>
            <a:srgbClr val="F2EFE9"/>
          </a:solidFill>
          <a:ln w="3810">
            <a:solidFill>
              <a:srgbClr val="E8E4D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81344" y="228600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 ·  cohorts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099048" y="2587752"/>
            <a:ext cx="230428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81344" y="2587752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activity_events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099048" y="2889504"/>
            <a:ext cx="2304288" cy="274320"/>
          </a:xfrm>
          <a:prstGeom prst="rect">
            <a:avLst/>
          </a:prstGeom>
          <a:solidFill>
            <a:srgbClr val="F2EFE9"/>
          </a:solidFill>
          <a:ln w="3810">
            <a:solidFill>
              <a:srgbClr val="E8E4D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81344" y="2889504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score_snapshots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099048" y="3191256"/>
            <a:ext cx="2304288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8E4D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81344" y="3191256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notification_logs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099048" y="3493008"/>
            <a:ext cx="2304288" cy="274320"/>
          </a:xfrm>
          <a:prstGeom prst="rect">
            <a:avLst/>
          </a:prstGeom>
          <a:solidFill>
            <a:srgbClr val="F2EFE9"/>
          </a:solidFill>
          <a:ln w="3810">
            <a:solidFill>
              <a:srgbClr val="E8E4D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81344" y="3493008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 ·  audit_logs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099048" y="3840480"/>
            <a:ext cx="23042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MODULES: Auth · Students · Cohorts · Activity Events · Scoring · Reporting · Notifications · Imports · Audit Logs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099048" y="4498848"/>
            <a:ext cx="2304288" cy="347472"/>
          </a:xfrm>
          <a:prstGeom prst="rect">
            <a:avLst/>
          </a:prstGeom>
          <a:solidFill>
            <a:srgbClr val="FDEDEC"/>
          </a:solidFill>
          <a:ln w="6350">
            <a:solidFill>
              <a:srgbClr val="F5C6C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99048" y="4498848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live  ·  Backend built  ·  DB schema ready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·  BUSINESS VALUE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impact. Measurable KPIs.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40690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34440"/>
            <a:ext cx="64008" cy="1572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399032"/>
            <a:ext cx="3721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 Dropout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" y="1783080"/>
            <a:ext cx="3721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risk detection gives mentors enough lead time to intervene before a student disengages completely.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" y="2496312"/>
            <a:ext cx="3721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At-risk detection lead time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690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64008" cy="1572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399032"/>
            <a:ext cx="3721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 Mentor 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4608" y="1783080"/>
            <a:ext cx="3721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see exactly who needs attention and why — no guessing, no more reactive check-ins.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64608" y="2496312"/>
            <a:ext cx="3721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Mentor intervention response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926080"/>
            <a:ext cx="40690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926080"/>
            <a:ext cx="64008" cy="1572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090672"/>
            <a:ext cx="3721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Reporting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" y="3474720"/>
            <a:ext cx="3721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and monthly reports go from hours of manual work to a single export click — PDF or Excel.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2648" y="4187952"/>
            <a:ext cx="3721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Report generation 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40690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26080"/>
            <a:ext cx="64008" cy="15727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3090672"/>
            <a:ext cx="3721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Visibility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64608" y="3474720"/>
            <a:ext cx="3721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KPIs become measurable and shareable — giving leadership a real pulse on cohort health.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64608" y="4187952"/>
            <a:ext cx="3721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Weekly score improvement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 ·  Pilot: 1 campus, 2 cohorts  ·  4–6 weeks to proof-of-value  ·  Then scale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 · 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hackathon to full platform.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724912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2724912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37160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>
                    <a:alpha val="8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– 2 MONTHS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6072" y="1609344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12648" y="2377440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86000"/>
            <a:ext cx="2130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API integration — remove all frontend mock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" y="3035808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944368"/>
            <a:ext cx="2130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RBAC fully activated for Admin and Mentor roles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" y="3694176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602736"/>
            <a:ext cx="2130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service wired to live backend stream endpoints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" y="4352544"/>
            <a:ext cx="118872" cy="1188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4261104"/>
            <a:ext cx="2130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 and performance audit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1325880"/>
            <a:ext cx="2724912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325880"/>
            <a:ext cx="2724912" cy="841248"/>
          </a:xfrm>
          <a:prstGeom prst="rect">
            <a:avLst/>
          </a:prstGeom>
          <a:solidFill>
            <a:srgbClr val="C0762B"/>
          </a:solidFill>
          <a:ln w="12700">
            <a:solidFill>
              <a:srgbClr val="C076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37160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>
                    <a:alpha val="8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– 4 MONTHS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6432" y="1609344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493008" y="2377440"/>
            <a:ext cx="118872" cy="118872"/>
          </a:xfrm>
          <a:prstGeom prst="ellipse">
            <a:avLst/>
          </a:prstGeom>
          <a:solidFill>
            <a:srgbClr val="C0762B"/>
          </a:solidFill>
          <a:ln w="12700">
            <a:solidFill>
              <a:srgbClr val="C076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2286000"/>
            <a:ext cx="2130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automations via Email and Telegram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93008" y="3035808"/>
            <a:ext cx="118872" cy="118872"/>
          </a:xfrm>
          <a:prstGeom prst="ellipse">
            <a:avLst/>
          </a:prstGeom>
          <a:solidFill>
            <a:srgbClr val="C0762B"/>
          </a:solidFill>
          <a:ln w="12700">
            <a:solidFill>
              <a:srgbClr val="C076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2944368"/>
            <a:ext cx="2130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weekly digest sent automatically to mentors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93008" y="3694176"/>
            <a:ext cx="118872" cy="118872"/>
          </a:xfrm>
          <a:prstGeom prst="ellipse">
            <a:avLst/>
          </a:prstGeom>
          <a:solidFill>
            <a:srgbClr val="C0762B"/>
          </a:solidFill>
          <a:ln w="12700">
            <a:solidFill>
              <a:srgbClr val="C076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3602736"/>
            <a:ext cx="2130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risk heuristics with multi-factor signals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93008" y="4352544"/>
            <a:ext cx="118872" cy="118872"/>
          </a:xfrm>
          <a:prstGeom prst="ellipse">
            <a:avLst/>
          </a:prstGeom>
          <a:solidFill>
            <a:srgbClr val="C0762B"/>
          </a:solidFill>
          <a:ln w="12700">
            <a:solidFill>
              <a:srgbClr val="C076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0752" y="4261104"/>
            <a:ext cx="2130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rollout with feedback loop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1325880"/>
            <a:ext cx="2724912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ED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1325880"/>
            <a:ext cx="2724912" cy="841248"/>
          </a:xfrm>
          <a:prstGeom prst="rect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1371600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FFFFF">
                    <a:alpha val="8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4+ MONTHS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36792" y="1609344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373368" y="2377440"/>
            <a:ext cx="118872" cy="118872"/>
          </a:xfrm>
          <a:prstGeom prst="ellipse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11112" y="2286000"/>
            <a:ext cx="2130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risk prediction from historical patterns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73368" y="3035808"/>
            <a:ext cx="118872" cy="118872"/>
          </a:xfrm>
          <a:prstGeom prst="ellipse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11112" y="2944368"/>
            <a:ext cx="2130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self-service panel for personal tracking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73368" y="3694176"/>
            <a:ext cx="118872" cy="118872"/>
          </a:xfrm>
          <a:prstGeom prst="ellipse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11112" y="3602736"/>
            <a:ext cx="2130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Multi-campus benchmark analytics dashboard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73368" y="4352544"/>
            <a:ext cx="118872" cy="118872"/>
          </a:xfrm>
          <a:prstGeom prst="ellipse">
            <a:avLst/>
          </a:prstGeom>
          <a:solidFill>
            <a:srgbClr val="1A8A4A"/>
          </a:solidFill>
          <a:ln w="12700">
            <a:solidFill>
              <a:srgbClr val="1A8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11112" y="4261104"/>
            <a:ext cx="2130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API for third-party LMS integrations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B2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5757">
              <a:alpha val="60000"/>
            </a:srgbClr>
          </a:solidFill>
          <a:ln w="12700">
            <a:solidFill>
              <a:srgbClr val="FF5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475488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8000"/>
            </a:srgbClr>
          </a:solidFill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4754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PILOT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896112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prove it</a:t>
            </a:r>
            <a:endParaRPr lang="en-US" sz="5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real data.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6949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2 weeks and one cohort. We'll show measurable improvement in at-risk detection, mentor response time, and score recovery.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3566160"/>
            <a:ext cx="187452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602736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828800" y="416052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proof-of-value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3566160"/>
            <a:ext cx="187452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602736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840480" y="416052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pilot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3566160"/>
            <a:ext cx="187452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3602736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852160" y="416052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start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846320"/>
            <a:ext cx="7680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4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github.com/fizuli20/DDS_Hackathon  ·  Built for Holberton Hackathon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HSPTS Pitch Deck</dc:title>
  <dc:subject>PptxGenJS Presentation</dc:subject>
  <dc:creator>PptxGenJS</dc:creator>
  <cp:lastModifiedBy>PptxGenJS</cp:lastModifiedBy>
  <cp:revision>1</cp:revision>
  <dcterms:created xsi:type="dcterms:W3CDTF">2026-04-08T12:04:49Z</dcterms:created>
  <dcterms:modified xsi:type="dcterms:W3CDTF">2026-04-08T12:04:49Z</dcterms:modified>
</cp:coreProperties>
</file>